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72" r:id="rId4"/>
    <p:sldId id="273" r:id="rId5"/>
    <p:sldId id="274" r:id="rId6"/>
    <p:sldId id="27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CD584-51CB-4F30-A63A-F80FE14E51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C3795-B3DA-46FC-A7DC-F9C7D5AA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1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969072c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969072c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b9fc06b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b9fc06b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ae6b374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ae6b374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ae6b374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ae6b374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ae6b374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ae6b374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54134" y="791156"/>
            <a:ext cx="15147733" cy="1018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15147733" cy="6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2810" lvl="0" indent="-60960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625620" lvl="1" indent="-56445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438430" lvl="2" indent="-56445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251241" lvl="3" indent="-56445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064051" lvl="4" indent="-56445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876861" lvl="5" indent="-56445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689671" lvl="6" indent="-56445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6502481" lvl="7" indent="-56445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7315291" lvl="8" indent="-56445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5062147" y="8290164"/>
            <a:ext cx="975467" cy="699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909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54134" y="791156"/>
            <a:ext cx="15147733" cy="1018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7110933" cy="6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2810" lvl="0" indent="-56445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89"/>
            </a:lvl1pPr>
            <a:lvl2pPr marL="1625620" lvl="1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2pPr>
            <a:lvl3pPr marL="2438430" lvl="2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3pPr>
            <a:lvl4pPr marL="3251241" lvl="3" indent="-5418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4pPr>
            <a:lvl5pPr marL="4064051" lvl="4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5pPr>
            <a:lvl6pPr marL="4876861" lvl="5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6pPr>
            <a:lvl7pPr marL="5689671" lvl="6" indent="-5418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7pPr>
            <a:lvl8pPr marL="6502481" lvl="7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8pPr>
            <a:lvl9pPr marL="7315291" lvl="8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8590934" y="2048844"/>
            <a:ext cx="7110933" cy="6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2810" lvl="0" indent="-56445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89"/>
            </a:lvl1pPr>
            <a:lvl2pPr marL="1625620" lvl="1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2pPr>
            <a:lvl3pPr marL="2438430" lvl="2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3pPr>
            <a:lvl4pPr marL="3251241" lvl="3" indent="-5418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4pPr>
            <a:lvl5pPr marL="4064051" lvl="4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5pPr>
            <a:lvl6pPr marL="4876861" lvl="5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6pPr>
            <a:lvl7pPr marL="5689671" lvl="6" indent="-5418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3"/>
            </a:lvl7pPr>
            <a:lvl8pPr marL="6502481" lvl="7" indent="-5418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3"/>
            </a:lvl8pPr>
            <a:lvl9pPr marL="7315291" lvl="8" indent="-5418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5062147" y="8290164"/>
            <a:ext cx="975467" cy="699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99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Ghcd_eeaIiKb8_UPBykxH1_OxMupi5M/view?usp=drive_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A28DF0-7649-A245-5D75-86BCB2E1B548}"/>
              </a:ext>
            </a:extLst>
          </p:cNvPr>
          <p:cNvSpPr/>
          <p:nvPr/>
        </p:nvSpPr>
        <p:spPr>
          <a:xfrm>
            <a:off x="736600" y="7772400"/>
            <a:ext cx="5181600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40B43-7B04-D440-75A3-3E2774872356}"/>
              </a:ext>
            </a:extLst>
          </p:cNvPr>
          <p:cNvSpPr txBox="1"/>
          <p:nvPr/>
        </p:nvSpPr>
        <p:spPr>
          <a:xfrm>
            <a:off x="2032000" y="7772400"/>
            <a:ext cx="28194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Narendra Parmar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C3F67A-E270-A2DD-EEE5-737224A67CD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554134" y="791156"/>
            <a:ext cx="15147733" cy="1018133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>
              <a:buSzPts val="990"/>
            </a:pPr>
            <a:r>
              <a:rPr lang="en-GB" sz="4302" dirty="0"/>
              <a:t>Problem statement</a:t>
            </a:r>
            <a:endParaRPr sz="4302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151477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2844" dirty="0">
                <a:solidFill>
                  <a:schemeClr val="dk1"/>
                </a:solidFill>
              </a:rPr>
              <a:t>You are hired as a data analyst at Chinook, and your objective is to </a:t>
            </a:r>
            <a:r>
              <a:rPr lang="en-GB" sz="2844" dirty="0" err="1">
                <a:solidFill>
                  <a:schemeClr val="dk1"/>
                </a:solidFill>
              </a:rPr>
              <a:t>analyze</a:t>
            </a:r>
            <a:r>
              <a:rPr lang="en-GB" sz="2844" dirty="0">
                <a:solidFill>
                  <a:schemeClr val="dk1"/>
                </a:solidFill>
              </a:rPr>
              <a:t> music record sales data to gain insights and make recommendations for the company's strategy in the physical music marke</a:t>
            </a:r>
            <a:r>
              <a:rPr lang="en-GB" dirty="0">
                <a:solidFill>
                  <a:schemeClr val="dk1"/>
                </a:solidFill>
              </a:rPr>
              <a:t>t.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7C872F-72E6-DBCA-1563-C6E7D4F5D68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95538" y="601780"/>
            <a:ext cx="15147733" cy="1018133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>
              <a:buSzPts val="990"/>
            </a:pPr>
            <a:r>
              <a:rPr lang="en-GB" sz="4302"/>
              <a:t>Database schema</a:t>
            </a:r>
            <a:endParaRPr sz="4302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357" y="1467005"/>
            <a:ext cx="12581881" cy="724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5704EA-7701-705A-94A6-9F667901955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 fontScale="62500" lnSpcReduction="20000"/>
          </a:bodyPr>
          <a:lstStyle/>
          <a:p>
            <a:pPr marL="0" indent="0">
              <a:buClr>
                <a:schemeClr val="dk1"/>
              </a:buClr>
              <a:buSzPct val="55000"/>
              <a:buNone/>
            </a:pPr>
            <a:r>
              <a:rPr lang="en-GB" sz="3556">
                <a:solidFill>
                  <a:schemeClr val="dk1"/>
                </a:solidFill>
              </a:rPr>
              <a:t>customer:</a:t>
            </a:r>
            <a:endParaRPr sz="3556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customer_id: Unique identifier assigned to each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first_name: The given name or first name of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last_name: The surname or family name of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company: The name of the company associated with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address: The street address of a customer's location.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city: The city where a customer is located.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state: The state or province where a customer is located.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country: The country where a customer is located.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postal_code: The postal or zip code of a customer's address.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phone: The phone number of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fax: The fax number associated with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email: The email address of a customer.</a:t>
            </a:r>
            <a:endParaRPr sz="3332">
              <a:solidFill>
                <a:schemeClr val="dk1"/>
              </a:solidFill>
            </a:endParaRPr>
          </a:p>
          <a:p>
            <a:pPr indent="-522769">
              <a:buClr>
                <a:schemeClr val="dk1"/>
              </a:buClr>
              <a:buSzPct val="100000"/>
            </a:pPr>
            <a:r>
              <a:rPr lang="en-GB" sz="3332">
                <a:solidFill>
                  <a:schemeClr val="dk1"/>
                </a:solidFill>
              </a:rPr>
              <a:t>support_rep_id: The employee ID of the support representative assigned to a customer.</a:t>
            </a:r>
            <a:endParaRPr sz="3332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ct val="61111"/>
              <a:buNone/>
            </a:pPr>
            <a:endParaRPr sz="320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85909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 marL="0" indent="0">
              <a:buNone/>
            </a:pPr>
            <a:r>
              <a:rPr lang="en-GB" sz="1956">
                <a:solidFill>
                  <a:schemeClr val="dk1"/>
                </a:solidFill>
              </a:rPr>
              <a:t>invoice: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invoice_id: Unique identifier assigned to each invoice.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customer_id: The customer ID associated with the invoice.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invoice_date: The date when the invoice was generated or issued.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billing_address: The street address used for billing purposes.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billing_city: The city used for billing purposes.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billing_state: The state or province used for billing purposes.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billing_country: The country used for billing purposes.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billing_postal_code: The postal or zip code used for billing purposes.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total: The total amount due on the invoice.</a:t>
            </a:r>
            <a:endParaRPr sz="1956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sz="1956"/>
          </a:p>
        </p:txBody>
      </p:sp>
      <p:sp>
        <p:nvSpPr>
          <p:cNvPr id="86" name="Google Shape;86;p18"/>
          <p:cNvSpPr txBox="1"/>
          <p:nvPr/>
        </p:nvSpPr>
        <p:spPr>
          <a:xfrm>
            <a:off x="554134" y="791156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>
              <a:lnSpc>
                <a:spcPct val="80000"/>
              </a:lnSpc>
              <a:buSzPts val="605"/>
            </a:pPr>
            <a:r>
              <a:rPr lang="en-GB" sz="3804" b="1" dirty="0">
                <a:solidFill>
                  <a:srgbClr val="000000"/>
                </a:solidFill>
              </a:rPr>
              <a:t>Data description</a:t>
            </a:r>
            <a:endParaRPr sz="3804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buSzPts val="605"/>
            </a:pPr>
            <a:endParaRPr sz="3804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7B1D12-9AFC-17BD-E4EB-8AF91CF8B926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Autofit/>
          </a:bodyPr>
          <a:lstStyle/>
          <a:p>
            <a:pPr marL="0" indent="0">
              <a:lnSpc>
                <a:spcPct val="105000"/>
              </a:lnSpc>
              <a:buClr>
                <a:schemeClr val="dk1"/>
              </a:buClr>
              <a:buSzPts val="935"/>
              <a:buNone/>
            </a:pPr>
            <a:r>
              <a:rPr lang="en-GB" sz="1662" b="1">
                <a:solidFill>
                  <a:schemeClr val="dk1"/>
                </a:solidFill>
              </a:rPr>
              <a:t>invoice</a:t>
            </a:r>
            <a:r>
              <a:rPr lang="en-GB" sz="1662">
                <a:solidFill>
                  <a:schemeClr val="dk1"/>
                </a:solidFill>
              </a:rPr>
              <a:t>: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invoice_id: Unique identifier assigned to each invoice.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customer_id: The customer ID associated with the invoice.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invoice_date: The date when the invoice was generated or issued.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billing_address: The street address used for billing purposes.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billing_city: The city used for billing purposes.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billing_state: The state or province used for billing purposes.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billing_country: The country used for billing purposes.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billing_postal_code: The postal or zip code used for billing purposes.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total: The total amount due on the invoice.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endParaRPr sz="1662">
              <a:solidFill>
                <a:schemeClr val="dk1"/>
              </a:solidFill>
            </a:endParaRP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935"/>
              <a:buNone/>
            </a:pPr>
            <a:r>
              <a:rPr lang="en-GB" sz="1662" b="1">
                <a:solidFill>
                  <a:schemeClr val="dk1"/>
                </a:solidFill>
              </a:rPr>
              <a:t>invoice_line:</a:t>
            </a:r>
            <a:endParaRPr sz="1662" b="1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invoice_line_id: Unique identifier assigned to each line item on an invoice.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invoice_id: The invoice ID to which the line item belongs.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track_id: The ID of the track or product included in the line item.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unit_price: The price per unit for the line item.</a:t>
            </a:r>
            <a:endParaRPr sz="1662">
              <a:solidFill>
                <a:schemeClr val="dk1"/>
              </a:solidFill>
            </a:endParaRPr>
          </a:p>
          <a:p>
            <a:pPr indent="-511958">
              <a:lnSpc>
                <a:spcPct val="105000"/>
              </a:lnSpc>
              <a:buClr>
                <a:schemeClr val="dk1"/>
              </a:buClr>
              <a:buSzPts val="935"/>
            </a:pPr>
            <a:r>
              <a:rPr lang="en-GB" sz="1662">
                <a:solidFill>
                  <a:schemeClr val="dk1"/>
                </a:solidFill>
              </a:rPr>
              <a:t>quantity: The quantity of units for the line item.</a:t>
            </a:r>
            <a:endParaRPr sz="1662">
              <a:solidFill>
                <a:schemeClr val="dk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2133"/>
              </a:spcAft>
              <a:buSzPts val="935"/>
              <a:buNone/>
            </a:pPr>
            <a:endParaRPr sz="2116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2"/>
          </p:nvPr>
        </p:nvSpPr>
        <p:spPr>
          <a:xfrm>
            <a:off x="85909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GB" sz="1956" b="1">
                <a:solidFill>
                  <a:schemeClr val="dk1"/>
                </a:solidFill>
              </a:rPr>
              <a:t>p</a:t>
            </a:r>
            <a:r>
              <a:rPr lang="en-GB" sz="1867" b="1">
                <a:solidFill>
                  <a:schemeClr val="dk1"/>
                </a:solidFill>
              </a:rPr>
              <a:t>laylist</a:t>
            </a:r>
            <a:r>
              <a:rPr lang="en-GB" sz="1867">
                <a:solidFill>
                  <a:schemeClr val="dk1"/>
                </a:solidFill>
              </a:rPr>
              <a:t>: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playlist_id: Unique identifier assigned to each playlist.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name: The name or title of the playlist.</a:t>
            </a:r>
            <a:endParaRPr sz="1867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ct val="104762"/>
              <a:buNone/>
            </a:pPr>
            <a:endParaRPr sz="1867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ct val="104762"/>
              <a:buNone/>
            </a:pPr>
            <a:r>
              <a:rPr lang="en-GB" sz="1867" b="1">
                <a:solidFill>
                  <a:schemeClr val="dk1"/>
                </a:solidFill>
              </a:rPr>
              <a:t>playlist_track</a:t>
            </a:r>
            <a:r>
              <a:rPr lang="en-GB" sz="1867">
                <a:solidFill>
                  <a:schemeClr val="dk1"/>
                </a:solidFill>
              </a:rPr>
              <a:t>: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playlist_id: The ID of the playlist to which the track belongs.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track_id: The ID of the track included in the playlist.</a:t>
            </a:r>
            <a:endParaRPr sz="1867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ct val="104762"/>
              <a:buNone/>
            </a:pPr>
            <a:endParaRPr sz="1867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ct val="104762"/>
              <a:buNone/>
            </a:pPr>
            <a:r>
              <a:rPr lang="en-GB" sz="1867" b="1">
                <a:solidFill>
                  <a:schemeClr val="dk1"/>
                </a:solidFill>
              </a:rPr>
              <a:t>track</a:t>
            </a:r>
            <a:r>
              <a:rPr lang="en-GB" sz="1867">
                <a:solidFill>
                  <a:schemeClr val="dk1"/>
                </a:solidFill>
              </a:rPr>
              <a:t>: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track_id: Unique identifier assigned to each track or song.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name: The title or name of the track.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album_id: The ID of the album to which the track belongs.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media_type_id: The ID of the media type associated with the track.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genre_id: The ID of the genre associated with the track.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composer: The name of the composer or artist who composed the track.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milliseconds: The duration of the track in milliseconds.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bytes: The file size of the track in bytes.</a:t>
            </a:r>
            <a:endParaRPr sz="1867">
              <a:solidFill>
                <a:schemeClr val="dk1"/>
              </a:solidFill>
            </a:endParaRPr>
          </a:p>
          <a:p>
            <a:pPr indent="-516049">
              <a:buClr>
                <a:schemeClr val="dk1"/>
              </a:buClr>
              <a:buSzPct val="100000"/>
            </a:pPr>
            <a:r>
              <a:rPr lang="en-GB" sz="1867">
                <a:solidFill>
                  <a:schemeClr val="dk1"/>
                </a:solidFill>
              </a:rPr>
              <a:t>unit_price: The price per unit for the track.</a:t>
            </a:r>
            <a:endParaRPr sz="1867"/>
          </a:p>
          <a:p>
            <a:pPr marL="0" indent="0">
              <a:spcAft>
                <a:spcPts val="2133"/>
              </a:spcAft>
              <a:buNone/>
            </a:pP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554134" y="791156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>
              <a:lnSpc>
                <a:spcPct val="80000"/>
              </a:lnSpc>
              <a:buSzPts val="605"/>
            </a:pPr>
            <a:r>
              <a:rPr lang="en-GB" sz="3804" b="1">
                <a:solidFill>
                  <a:srgbClr val="000000"/>
                </a:solidFill>
              </a:rPr>
              <a:t>Data description</a:t>
            </a:r>
            <a:endParaRPr sz="3804" b="1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buSzPts val="605"/>
            </a:pPr>
            <a:endParaRPr sz="3804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450D4A-707E-CF9D-F6AA-AE76F49637A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1956" b="1">
                <a:solidFill>
                  <a:schemeClr val="dk1"/>
                </a:solidFill>
              </a:rPr>
              <a:t>album</a:t>
            </a:r>
            <a:r>
              <a:rPr lang="en-GB" sz="1956">
                <a:solidFill>
                  <a:schemeClr val="dk1"/>
                </a:solidFill>
              </a:rPr>
              <a:t>: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album_id: Unique identifier assigned to each album.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title: The title or name of the album.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artist_id: The ID of the artist associated with the album.</a:t>
            </a:r>
            <a:endParaRPr sz="1956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sz="1956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1956" b="1">
                <a:solidFill>
                  <a:schemeClr val="dk1"/>
                </a:solidFill>
              </a:rPr>
              <a:t>artist</a:t>
            </a:r>
            <a:r>
              <a:rPr lang="en-GB" sz="1956">
                <a:solidFill>
                  <a:schemeClr val="dk1"/>
                </a:solidFill>
              </a:rPr>
              <a:t>: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artist_id: Unique identifier assigned to each artist.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name: The name of the artist.</a:t>
            </a:r>
            <a:endParaRPr sz="1956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2"/>
          </p:nvPr>
        </p:nvSpPr>
        <p:spPr>
          <a:xfrm>
            <a:off x="8590934" y="2048844"/>
            <a:ext cx="7110933" cy="6073600"/>
          </a:xfrm>
          <a:prstGeom prst="rect">
            <a:avLst/>
          </a:prstGeom>
        </p:spPr>
        <p:txBody>
          <a:bodyPr spcFirstLastPara="1" vert="horz" wrap="square" lIns="162533" tIns="162533" rIns="162533" bIns="162533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1956" b="1">
                <a:solidFill>
                  <a:schemeClr val="dk1"/>
                </a:solidFill>
              </a:rPr>
              <a:t>media_type</a:t>
            </a:r>
            <a:r>
              <a:rPr lang="en-GB" sz="1956">
                <a:solidFill>
                  <a:schemeClr val="dk1"/>
                </a:solidFill>
              </a:rPr>
              <a:t>: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media_type_id: Unique identifier assigned to each media type.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name: The name or description of the media type (e.g., MPEG audio file, AAC audio file).</a:t>
            </a:r>
            <a:endParaRPr sz="1956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sz="1956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1956" b="1">
                <a:solidFill>
                  <a:schemeClr val="dk1"/>
                </a:solidFill>
              </a:rPr>
              <a:t>genre</a:t>
            </a:r>
            <a:r>
              <a:rPr lang="en-GB" sz="1956">
                <a:solidFill>
                  <a:schemeClr val="dk1"/>
                </a:solidFill>
              </a:rPr>
              <a:t>: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genre_id: Unique identifier assigned to each genre.</a:t>
            </a:r>
            <a:endParaRPr sz="1956">
              <a:solidFill>
                <a:schemeClr val="dk1"/>
              </a:solidFill>
            </a:endParaRPr>
          </a:p>
          <a:p>
            <a:pPr indent="-530584">
              <a:buClr>
                <a:schemeClr val="dk1"/>
              </a:buClr>
              <a:buSzPts val="1100"/>
            </a:pPr>
            <a:r>
              <a:rPr lang="en-GB" sz="1956">
                <a:solidFill>
                  <a:schemeClr val="dk1"/>
                </a:solidFill>
              </a:rPr>
              <a:t>name: The name or description of the genre (e.g., rock, pop, classical).</a:t>
            </a:r>
            <a:endParaRPr sz="1956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sz="1956"/>
          </a:p>
        </p:txBody>
      </p:sp>
      <p:sp>
        <p:nvSpPr>
          <p:cNvPr id="100" name="Google Shape;100;p20"/>
          <p:cNvSpPr txBox="1"/>
          <p:nvPr/>
        </p:nvSpPr>
        <p:spPr>
          <a:xfrm>
            <a:off x="554134" y="791156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>
              <a:lnSpc>
                <a:spcPct val="80000"/>
              </a:lnSpc>
              <a:buSzPts val="605"/>
            </a:pPr>
            <a:r>
              <a:rPr lang="en-GB" sz="3804" b="1" dirty="0">
                <a:solidFill>
                  <a:srgbClr val="000000"/>
                </a:solidFill>
              </a:rPr>
              <a:t>Data description</a:t>
            </a:r>
            <a:endParaRPr sz="3804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buSzPts val="605"/>
            </a:pPr>
            <a:endParaRPr sz="3804" b="1" dirty="0">
              <a:solidFill>
                <a:srgbClr val="000000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5461334" y="7702978"/>
            <a:ext cx="5333333" cy="820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spAutoFit/>
          </a:bodyPr>
          <a:lstStyle/>
          <a:p>
            <a:r>
              <a:rPr lang="en-GB" sz="3200" b="1">
                <a:solidFill>
                  <a:schemeClr val="dk2"/>
                </a:solidFill>
              </a:rPr>
              <a:t>Data Link: </a:t>
            </a:r>
            <a:r>
              <a:rPr lang="en-GB" sz="3200" b="1" u="sng">
                <a:solidFill>
                  <a:schemeClr val="hlink"/>
                </a:solidFill>
                <a:hlinkClick r:id="rId3"/>
              </a:rPr>
              <a:t>Link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812</Words>
  <Application>Microsoft Office PowerPoint</Application>
  <PresentationFormat>Custom</PresentationFormat>
  <Paragraphs>82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Problem statement</vt:lpstr>
      <vt:lpstr>Database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a13025</cp:lastModifiedBy>
  <cp:revision>3</cp:revision>
  <dcterms:created xsi:type="dcterms:W3CDTF">2006-08-16T00:00:00Z</dcterms:created>
  <dcterms:modified xsi:type="dcterms:W3CDTF">2026-04-05T11:23:41Z</dcterms:modified>
</cp:coreProperties>
</file>